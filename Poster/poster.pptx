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108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-2" y="10940058"/>
            <a:ext cx="20104099" cy="3684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9311" y="156491"/>
            <a:ext cx="2058670" cy="44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://www.PosterPresentation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6523" y="11084435"/>
            <a:ext cx="814069" cy="108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" b="1" dirty="0">
                <a:solidFill>
                  <a:srgbClr val="BEBEBE"/>
                </a:solidFill>
                <a:latin typeface="Arial"/>
                <a:cs typeface="Arial"/>
              </a:rPr>
              <a:t>RESEARCH</a:t>
            </a:r>
            <a:r>
              <a:rPr sz="200" b="1" spc="35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200" b="1" dirty="0">
                <a:solidFill>
                  <a:srgbClr val="BEBEBE"/>
                </a:solidFill>
                <a:latin typeface="Arial"/>
                <a:cs typeface="Arial"/>
              </a:rPr>
              <a:t>POSTER</a:t>
            </a:r>
            <a:r>
              <a:rPr sz="200" b="1" spc="35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200" b="1" dirty="0">
                <a:solidFill>
                  <a:srgbClr val="BEBEBE"/>
                </a:solidFill>
                <a:latin typeface="Arial"/>
                <a:cs typeface="Arial"/>
              </a:rPr>
              <a:t>PRESENTATION</a:t>
            </a:r>
            <a:r>
              <a:rPr sz="200" b="1" spc="40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200" b="1" dirty="0">
                <a:solidFill>
                  <a:srgbClr val="BEBEBE"/>
                </a:solidFill>
                <a:latin typeface="Arial"/>
                <a:cs typeface="Arial"/>
              </a:rPr>
              <a:t>DESIGN</a:t>
            </a:r>
            <a:r>
              <a:rPr sz="200" b="1" spc="35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200" b="1" dirty="0">
                <a:solidFill>
                  <a:srgbClr val="BEBEBE"/>
                </a:solidFill>
                <a:latin typeface="Arial"/>
                <a:cs typeface="Arial"/>
              </a:rPr>
              <a:t>©</a:t>
            </a:r>
            <a:r>
              <a:rPr sz="200" b="1" spc="100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200" b="1" spc="-20" dirty="0">
                <a:solidFill>
                  <a:srgbClr val="BEBEBE"/>
                </a:solidFill>
                <a:latin typeface="Arial"/>
                <a:cs typeface="Arial"/>
              </a:rPr>
              <a:t>2019</a:t>
            </a:r>
            <a:endParaRPr sz="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400" b="1" spc="-10" dirty="0">
                <a:solidFill>
                  <a:srgbClr val="BEBEBE"/>
                </a:solidFill>
                <a:latin typeface="Arial"/>
                <a:cs typeface="Arial"/>
                <a:hlinkClick r:id="rId2"/>
              </a:rPr>
              <a:t>www.PosterPresentations.com</a:t>
            </a:r>
            <a:endParaRPr sz="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104101" cy="3306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520023"/>
            <a:ext cx="20104099" cy="12093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28346" y="1806227"/>
            <a:ext cx="4598035" cy="9119870"/>
          </a:xfrm>
          <a:custGeom>
            <a:avLst/>
            <a:gdLst/>
            <a:ahLst/>
            <a:cxnLst/>
            <a:rect l="l" t="t" r="r" b="b"/>
            <a:pathLst>
              <a:path w="4598035" h="9119870">
                <a:moveTo>
                  <a:pt x="0" y="89962"/>
                </a:moveTo>
                <a:lnTo>
                  <a:pt x="7066" y="54923"/>
                </a:lnTo>
                <a:lnTo>
                  <a:pt x="26338" y="26329"/>
                </a:lnTo>
                <a:lnTo>
                  <a:pt x="54923" y="7062"/>
                </a:lnTo>
                <a:lnTo>
                  <a:pt x="89927" y="0"/>
                </a:lnTo>
                <a:lnTo>
                  <a:pt x="4507716" y="0"/>
                </a:lnTo>
                <a:lnTo>
                  <a:pt x="4542755" y="7062"/>
                </a:lnTo>
                <a:lnTo>
                  <a:pt x="4571348" y="26329"/>
                </a:lnTo>
                <a:lnTo>
                  <a:pt x="4590616" y="54923"/>
                </a:lnTo>
                <a:lnTo>
                  <a:pt x="4597678" y="89962"/>
                </a:lnTo>
                <a:lnTo>
                  <a:pt x="4597678" y="9029943"/>
                </a:lnTo>
                <a:lnTo>
                  <a:pt x="4590616" y="9064947"/>
                </a:lnTo>
                <a:lnTo>
                  <a:pt x="4571348" y="9093531"/>
                </a:lnTo>
                <a:lnTo>
                  <a:pt x="4542755" y="9112803"/>
                </a:lnTo>
                <a:lnTo>
                  <a:pt x="4507716" y="9119870"/>
                </a:lnTo>
                <a:lnTo>
                  <a:pt x="89927" y="9119870"/>
                </a:lnTo>
                <a:lnTo>
                  <a:pt x="54923" y="9112803"/>
                </a:lnTo>
                <a:lnTo>
                  <a:pt x="26338" y="9093531"/>
                </a:lnTo>
                <a:lnTo>
                  <a:pt x="7066" y="9064947"/>
                </a:lnTo>
                <a:lnTo>
                  <a:pt x="0" y="9029943"/>
                </a:lnTo>
                <a:lnTo>
                  <a:pt x="0" y="89962"/>
                </a:lnTo>
                <a:close/>
              </a:path>
            </a:pathLst>
          </a:custGeom>
          <a:ln w="17451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087586" y="1806227"/>
            <a:ext cx="4598035" cy="9119870"/>
          </a:xfrm>
          <a:custGeom>
            <a:avLst/>
            <a:gdLst/>
            <a:ahLst/>
            <a:cxnLst/>
            <a:rect l="l" t="t" r="r" b="b"/>
            <a:pathLst>
              <a:path w="4598034" h="9119870">
                <a:moveTo>
                  <a:pt x="0" y="89962"/>
                </a:moveTo>
                <a:lnTo>
                  <a:pt x="7062" y="54923"/>
                </a:lnTo>
                <a:lnTo>
                  <a:pt x="26329" y="26329"/>
                </a:lnTo>
                <a:lnTo>
                  <a:pt x="54923" y="7062"/>
                </a:lnTo>
                <a:lnTo>
                  <a:pt x="89962" y="0"/>
                </a:lnTo>
                <a:lnTo>
                  <a:pt x="4507716" y="0"/>
                </a:lnTo>
                <a:lnTo>
                  <a:pt x="4542755" y="7062"/>
                </a:lnTo>
                <a:lnTo>
                  <a:pt x="4571348" y="26329"/>
                </a:lnTo>
                <a:lnTo>
                  <a:pt x="4590616" y="54923"/>
                </a:lnTo>
                <a:lnTo>
                  <a:pt x="4597678" y="89962"/>
                </a:lnTo>
                <a:lnTo>
                  <a:pt x="4597678" y="9029943"/>
                </a:lnTo>
                <a:lnTo>
                  <a:pt x="4590616" y="9064947"/>
                </a:lnTo>
                <a:lnTo>
                  <a:pt x="4571348" y="9093531"/>
                </a:lnTo>
                <a:lnTo>
                  <a:pt x="4542755" y="9112803"/>
                </a:lnTo>
                <a:lnTo>
                  <a:pt x="4507716" y="9119870"/>
                </a:lnTo>
                <a:lnTo>
                  <a:pt x="89962" y="9119870"/>
                </a:lnTo>
                <a:lnTo>
                  <a:pt x="54923" y="9112803"/>
                </a:lnTo>
                <a:lnTo>
                  <a:pt x="26329" y="9093531"/>
                </a:lnTo>
                <a:lnTo>
                  <a:pt x="7062" y="9064947"/>
                </a:lnTo>
                <a:lnTo>
                  <a:pt x="0" y="9029943"/>
                </a:lnTo>
                <a:lnTo>
                  <a:pt x="0" y="89962"/>
                </a:lnTo>
                <a:close/>
              </a:path>
            </a:pathLst>
          </a:custGeom>
          <a:ln w="17451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88582" y="1806227"/>
            <a:ext cx="9537065" cy="9119870"/>
          </a:xfrm>
          <a:custGeom>
            <a:avLst/>
            <a:gdLst/>
            <a:ahLst/>
            <a:cxnLst/>
            <a:rect l="l" t="t" r="r" b="b"/>
            <a:pathLst>
              <a:path w="9537065" h="9119870">
                <a:moveTo>
                  <a:pt x="0" y="105319"/>
                </a:moveTo>
                <a:lnTo>
                  <a:pt x="8283" y="64310"/>
                </a:lnTo>
                <a:lnTo>
                  <a:pt x="30867" y="30834"/>
                </a:lnTo>
                <a:lnTo>
                  <a:pt x="64346" y="8271"/>
                </a:lnTo>
                <a:lnTo>
                  <a:pt x="105319" y="0"/>
                </a:lnTo>
                <a:lnTo>
                  <a:pt x="9431126" y="0"/>
                </a:lnTo>
                <a:lnTo>
                  <a:pt x="9472099" y="8271"/>
                </a:lnTo>
                <a:lnTo>
                  <a:pt x="9505578" y="30834"/>
                </a:lnTo>
                <a:lnTo>
                  <a:pt x="9528161" y="64310"/>
                </a:lnTo>
                <a:lnTo>
                  <a:pt x="9536445" y="105319"/>
                </a:lnTo>
                <a:lnTo>
                  <a:pt x="9536445" y="9014542"/>
                </a:lnTo>
                <a:lnTo>
                  <a:pt x="9528161" y="9055542"/>
                </a:lnTo>
                <a:lnTo>
                  <a:pt x="9505578" y="9089021"/>
                </a:lnTo>
                <a:lnTo>
                  <a:pt x="9472099" y="9111593"/>
                </a:lnTo>
                <a:lnTo>
                  <a:pt x="9431126" y="9119870"/>
                </a:lnTo>
                <a:lnTo>
                  <a:pt x="105319" y="9119870"/>
                </a:lnTo>
                <a:lnTo>
                  <a:pt x="64346" y="9111593"/>
                </a:lnTo>
                <a:lnTo>
                  <a:pt x="30867" y="9089021"/>
                </a:lnTo>
                <a:lnTo>
                  <a:pt x="8283" y="9055542"/>
                </a:lnTo>
                <a:lnTo>
                  <a:pt x="0" y="9014542"/>
                </a:lnTo>
                <a:lnTo>
                  <a:pt x="0" y="105319"/>
                </a:lnTo>
                <a:close/>
              </a:path>
            </a:pathLst>
          </a:custGeom>
          <a:ln w="17451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3253" y="5594321"/>
            <a:ext cx="4451350" cy="235648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1900" b="1" u="sng" spc="-1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Objectives</a:t>
            </a:r>
            <a:endParaRPr sz="1900">
              <a:latin typeface="Calibri"/>
              <a:cs typeface="Calibri"/>
            </a:endParaRPr>
          </a:p>
          <a:p>
            <a:pPr marL="326390" marR="5080" indent="-314325">
              <a:lnSpc>
                <a:spcPct val="101800"/>
              </a:lnSpc>
              <a:spcBef>
                <a:spcPts val="365"/>
              </a:spcBef>
              <a:buAutoNum type="arabicPeriod"/>
              <a:tabLst>
                <a:tab pos="326390" algn="l"/>
              </a:tabLst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To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propose</a:t>
            </a:r>
            <a:r>
              <a:rPr sz="1350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phishing detection–specific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 knowledge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distillation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framework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that</a:t>
            </a:r>
            <a:r>
              <a:rPr sz="1350" spc="4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enables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lightweight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transformer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models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to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achieve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accuracy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comparable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to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large-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scale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BERT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architectures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while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significantly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reducing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computational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overhead</a:t>
            </a:r>
            <a:endParaRPr sz="1350">
              <a:latin typeface="Times New Roman"/>
              <a:cs typeface="Times New Roman"/>
            </a:endParaRPr>
          </a:p>
          <a:p>
            <a:pPr marL="326390" marR="135255" indent="-314325">
              <a:lnSpc>
                <a:spcPct val="101800"/>
              </a:lnSpc>
              <a:spcBef>
                <a:spcPts val="330"/>
              </a:spcBef>
              <a:buAutoNum type="arabicPeriod"/>
              <a:tabLst>
                <a:tab pos="326390" algn="l"/>
              </a:tabLst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To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introduce</a:t>
            </a:r>
            <a:r>
              <a:rPr sz="1350" spc="-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hybrid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detection paradigm</a:t>
            </a:r>
            <a:r>
              <a:rPr sz="1350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that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integrates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transformer-based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natural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language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representations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with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handcrafted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cybersecurity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features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for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improved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robustness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against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diverse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sz="1350" spc="4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evolving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phishing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attacks.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211" y="1781399"/>
            <a:ext cx="4395470" cy="3435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19810">
              <a:lnSpc>
                <a:spcPct val="100000"/>
              </a:lnSpc>
              <a:spcBef>
                <a:spcPts val="120"/>
              </a:spcBef>
            </a:pPr>
            <a:r>
              <a:rPr sz="1900" b="1" u="sng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Abstract</a:t>
            </a:r>
            <a:r>
              <a:rPr sz="1900" b="1" u="sng" spc="-15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 </a:t>
            </a:r>
            <a:r>
              <a:rPr sz="1900" b="1" u="sng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&amp;</a:t>
            </a:r>
            <a:r>
              <a:rPr sz="1900" b="1" u="sng" spc="-2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 </a:t>
            </a:r>
            <a:r>
              <a:rPr sz="1900" b="1" u="sng" spc="-1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Introduction</a:t>
            </a:r>
            <a:endParaRPr sz="1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Email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Phishing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remains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one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of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the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most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significant</a:t>
            </a:r>
            <a:endParaRPr sz="13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cybersecurity</a:t>
            </a:r>
            <a:r>
              <a:rPr sz="1350" spc="5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threats,</a:t>
            </a:r>
            <a:r>
              <a:rPr sz="1350" spc="8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costing</a:t>
            </a:r>
            <a:r>
              <a:rPr sz="1350" spc="6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organizations</a:t>
            </a:r>
            <a:r>
              <a:rPr sz="1350" spc="6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billions</a:t>
            </a:r>
            <a:endParaRPr sz="1350" dirty="0">
              <a:latin typeface="Times New Roman"/>
              <a:cs typeface="Times New Roman"/>
            </a:endParaRPr>
          </a:p>
          <a:p>
            <a:pPr marL="12700" marR="31115">
              <a:lnSpc>
                <a:spcPct val="101800"/>
              </a:lnSpc>
              <a:spcBef>
                <a:spcPts val="5"/>
              </a:spcBef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annually.</a:t>
            </a:r>
            <a:r>
              <a:rPr sz="1350" spc="3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While</a:t>
            </a:r>
            <a:r>
              <a:rPr sz="1350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large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pre-trained</a:t>
            </a:r>
            <a:r>
              <a:rPr sz="1350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language</a:t>
            </a:r>
            <a:r>
              <a:rPr sz="1350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models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like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BERT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demonstrate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superior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accuracy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in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detecting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sophisticated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phishing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content,</a:t>
            </a:r>
            <a:r>
              <a:rPr sz="1350" spc="4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their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substantial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computational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requirements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make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them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impractical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for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real-time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email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filtering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1F3863"/>
                </a:solidFill>
                <a:latin typeface="Times New Roman"/>
                <a:cs typeface="Times New Roman"/>
              </a:rPr>
              <a:t>in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production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environments.</a:t>
            </a:r>
            <a:endParaRPr sz="1350" dirty="0">
              <a:latin typeface="Times New Roman"/>
              <a:cs typeface="Times New Roman"/>
            </a:endParaRPr>
          </a:p>
          <a:p>
            <a:pPr marL="12700" marR="5080">
              <a:lnSpc>
                <a:spcPct val="101800"/>
              </a:lnSpc>
              <a:spcBef>
                <a:spcPts val="330"/>
              </a:spcBef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This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paper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presents a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comprehensive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framework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for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deploying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knowledge-distilled</a:t>
            </a:r>
            <a:r>
              <a:rPr sz="1350" spc="-8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AI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models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in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enterprise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email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phishing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detection systems.</a:t>
            </a:r>
            <a:r>
              <a:rPr sz="1350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We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propose</a:t>
            </a:r>
            <a:r>
              <a:rPr sz="1350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optimized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knowledge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distillation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approach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that</a:t>
            </a:r>
            <a:r>
              <a:rPr sz="1350" spc="4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transfers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detection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capabilities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from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large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BERT models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to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compact TinyBERT</a:t>
            </a:r>
            <a:r>
              <a:rPr sz="1350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architectures,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enabling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high-accuracy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real-time</a:t>
            </a:r>
            <a:r>
              <a:rPr sz="1350" spc="5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phishing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detection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while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maintaining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computational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efficiency.</a:t>
            </a:r>
            <a:endParaRPr sz="135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04063" y="2802310"/>
            <a:ext cx="4639310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68655" algn="l"/>
                <a:tab pos="1256030" algn="l"/>
                <a:tab pos="2026285" algn="l"/>
                <a:tab pos="2517140" algn="l"/>
                <a:tab pos="3457575" algn="l"/>
                <a:tab pos="3822700" algn="l"/>
              </a:tabLst>
            </a:pP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student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model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(distilled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from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30" dirty="0">
                <a:solidFill>
                  <a:srgbClr val="1F3863"/>
                </a:solidFill>
                <a:latin typeface="Times New Roman"/>
                <a:cs typeface="Times New Roman"/>
              </a:rPr>
              <a:t>BERT-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base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25" dirty="0">
                <a:solidFill>
                  <a:srgbClr val="1F3863"/>
                </a:solidFill>
                <a:latin typeface="Times New Roman"/>
                <a:cs typeface="Times New Roman"/>
              </a:rPr>
              <a:t>via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progressive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04063" y="3011727"/>
            <a:ext cx="4638675" cy="2245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1800"/>
              </a:lnSpc>
              <a:spcBef>
                <a:spcPts val="95"/>
              </a:spcBef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distillation)</a:t>
            </a:r>
            <a:r>
              <a:rPr sz="1350" spc="2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extracts</a:t>
            </a:r>
            <a:r>
              <a:rPr sz="1350" spc="2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semantic</a:t>
            </a:r>
            <a:r>
              <a:rPr sz="1350" spc="19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features,</a:t>
            </a:r>
            <a:r>
              <a:rPr sz="1350" spc="2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while</a:t>
            </a:r>
            <a:r>
              <a:rPr sz="1350" spc="2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parallel</a:t>
            </a:r>
            <a:r>
              <a:rPr sz="1350" spc="204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processing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extracts</a:t>
            </a:r>
            <a:r>
              <a:rPr sz="1350" spc="5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URL,</a:t>
            </a:r>
            <a:r>
              <a:rPr sz="1350" spc="7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header,</a:t>
            </a:r>
            <a:r>
              <a:rPr sz="1350" spc="8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sz="1350" spc="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keyword</a:t>
            </a:r>
            <a:r>
              <a:rPr sz="1350" spc="6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features.</a:t>
            </a:r>
            <a:r>
              <a:rPr sz="1350" spc="7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These</a:t>
            </a:r>
            <a:r>
              <a:rPr sz="1350" spc="6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are</a:t>
            </a:r>
            <a:r>
              <a:rPr sz="1350" spc="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combined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via</a:t>
            </a:r>
            <a:r>
              <a:rPr sz="1350" spc="26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attention</a:t>
            </a:r>
            <a:r>
              <a:rPr sz="1350" spc="2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fusion</a:t>
            </a:r>
            <a:r>
              <a:rPr sz="1350" spc="28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sz="1350" spc="2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passed</a:t>
            </a:r>
            <a:r>
              <a:rPr sz="1350" spc="2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to</a:t>
            </a:r>
            <a:r>
              <a:rPr sz="1350" spc="28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</a:t>
            </a:r>
            <a:r>
              <a:rPr sz="1350" spc="2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LightGBM</a:t>
            </a:r>
            <a:r>
              <a:rPr sz="1350" spc="2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ensemble</a:t>
            </a:r>
            <a:r>
              <a:rPr sz="1350" spc="28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with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confidence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calibration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for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final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classification.</a:t>
            </a:r>
            <a:endParaRPr sz="135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1800"/>
              </a:lnSpc>
              <a:spcBef>
                <a:spcPts val="330"/>
              </a:spcBef>
            </a:pPr>
            <a:r>
              <a:rPr sz="1350" b="1" dirty="0">
                <a:solidFill>
                  <a:srgbClr val="1F3863"/>
                </a:solidFill>
                <a:latin typeface="Times New Roman"/>
                <a:cs typeface="Times New Roman"/>
              </a:rPr>
              <a:t>Data</a:t>
            </a:r>
            <a:r>
              <a:rPr sz="1350" b="1" spc="85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b="1" dirty="0">
                <a:solidFill>
                  <a:srgbClr val="1F3863"/>
                </a:solidFill>
                <a:latin typeface="Times New Roman"/>
                <a:cs typeface="Times New Roman"/>
              </a:rPr>
              <a:t>Processing:</a:t>
            </a:r>
            <a:r>
              <a:rPr sz="1350" b="1" spc="95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Email</a:t>
            </a:r>
            <a:r>
              <a:rPr sz="1350" spc="85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parsing,</a:t>
            </a:r>
            <a:r>
              <a:rPr sz="1350" spc="85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URL</a:t>
            </a:r>
            <a:r>
              <a:rPr sz="1350" spc="47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analysis</a:t>
            </a:r>
            <a:r>
              <a:rPr sz="1350" spc="85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(VirusTotal),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header</a:t>
            </a:r>
            <a:r>
              <a:rPr sz="1350" spc="6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verification</a:t>
            </a:r>
            <a:r>
              <a:rPr sz="1350" spc="5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(SPF/DKIM/DMARC),</a:t>
            </a:r>
            <a:r>
              <a:rPr sz="1350" spc="5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feature</a:t>
            </a:r>
            <a:r>
              <a:rPr sz="1350" spc="6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extraction</a:t>
            </a:r>
            <a:endParaRPr sz="13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1800"/>
              </a:lnSpc>
              <a:spcBef>
                <a:spcPts val="330"/>
              </a:spcBef>
            </a:pPr>
            <a:r>
              <a:rPr sz="1350" b="1" dirty="0">
                <a:solidFill>
                  <a:srgbClr val="1F3863"/>
                </a:solidFill>
                <a:latin typeface="Times New Roman"/>
                <a:cs typeface="Times New Roman"/>
              </a:rPr>
              <a:t>Knowledge</a:t>
            </a:r>
            <a:r>
              <a:rPr sz="1350" b="1" spc="8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1F3863"/>
                </a:solidFill>
                <a:latin typeface="Times New Roman"/>
                <a:cs typeface="Times New Roman"/>
              </a:rPr>
              <a:t>Distillation:</a:t>
            </a:r>
            <a:r>
              <a:rPr sz="1350" b="1" spc="8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Progressive</a:t>
            </a:r>
            <a:r>
              <a:rPr sz="1350" spc="8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compression</a:t>
            </a:r>
            <a:r>
              <a:rPr sz="1350" spc="8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40" dirty="0">
                <a:solidFill>
                  <a:srgbClr val="1F3863"/>
                </a:solidFill>
                <a:latin typeface="Times New Roman"/>
                <a:cs typeface="Times New Roman"/>
              </a:rPr>
              <a:t>BERT-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base</a:t>
            </a:r>
            <a:r>
              <a:rPr sz="1350" spc="8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50" dirty="0">
                <a:solidFill>
                  <a:srgbClr val="1F3863"/>
                </a:solidFill>
                <a:latin typeface="Times New Roman"/>
                <a:cs typeface="Times New Roman"/>
              </a:rPr>
              <a:t>→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TinyBERT</a:t>
            </a:r>
            <a:r>
              <a:rPr sz="1350" spc="-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with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attention transfer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 (T=2.5)</a:t>
            </a:r>
            <a:endParaRPr sz="135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360"/>
              </a:spcBef>
            </a:pPr>
            <a:r>
              <a:rPr sz="1350" b="1" dirty="0">
                <a:solidFill>
                  <a:srgbClr val="1F3863"/>
                </a:solidFill>
                <a:latin typeface="Times New Roman"/>
                <a:cs typeface="Times New Roman"/>
              </a:rPr>
              <a:t>Hybrid</a:t>
            </a:r>
            <a:r>
              <a:rPr sz="1350" b="1" spc="49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1F3863"/>
                </a:solidFill>
                <a:latin typeface="Times New Roman"/>
                <a:cs typeface="Times New Roman"/>
              </a:rPr>
              <a:t>Classification:</a:t>
            </a:r>
            <a:r>
              <a:rPr sz="1350" b="1" spc="85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Attention-based</a:t>
            </a:r>
            <a:r>
              <a:rPr sz="1350" spc="85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fusion</a:t>
            </a:r>
            <a:r>
              <a:rPr sz="1350" spc="80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of</a:t>
            </a:r>
            <a:r>
              <a:rPr sz="1350" spc="85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transformer</a:t>
            </a:r>
            <a:endParaRPr sz="135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30"/>
              </a:spcBef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outputs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+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security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features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04063" y="1642394"/>
            <a:ext cx="5343525" cy="118554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15"/>
              </a:spcBef>
            </a:pPr>
            <a:r>
              <a:rPr sz="1900" b="1" u="sng" spc="-1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Methodology</a:t>
            </a:r>
            <a:endParaRPr sz="1900">
              <a:latin typeface="Calibri"/>
              <a:cs typeface="Calibri"/>
            </a:endParaRPr>
          </a:p>
          <a:p>
            <a:pPr marL="12700" marR="709930" algn="just">
              <a:lnSpc>
                <a:spcPct val="101800"/>
              </a:lnSpc>
              <a:spcBef>
                <a:spcPts val="785"/>
              </a:spcBef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Our</a:t>
            </a:r>
            <a:r>
              <a:rPr sz="1350" spc="27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system</a:t>
            </a:r>
            <a:r>
              <a:rPr sz="1350" spc="254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employs</a:t>
            </a:r>
            <a:r>
              <a:rPr sz="1350" spc="2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</a:t>
            </a:r>
            <a:r>
              <a:rPr sz="1350" spc="26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stacked</a:t>
            </a:r>
            <a:r>
              <a:rPr sz="1350" spc="2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classifier</a:t>
            </a:r>
            <a:r>
              <a:rPr sz="1350" spc="26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architecture</a:t>
            </a:r>
            <a:r>
              <a:rPr sz="1350" spc="2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that</a:t>
            </a:r>
            <a:r>
              <a:rPr sz="1350" spc="2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fuses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distilled</a:t>
            </a:r>
            <a:r>
              <a:rPr sz="1350" spc="37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transformer</a:t>
            </a:r>
            <a:r>
              <a:rPr sz="1350" spc="37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embeddings</a:t>
            </a:r>
            <a:r>
              <a:rPr sz="1350" spc="3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with</a:t>
            </a:r>
            <a:r>
              <a:rPr sz="1350" spc="3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traditional</a:t>
            </a:r>
            <a:r>
              <a:rPr sz="1350" spc="36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cybersecurity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features</a:t>
            </a:r>
            <a:r>
              <a:rPr sz="1350" spc="100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through</a:t>
            </a:r>
            <a:r>
              <a:rPr sz="1350" spc="105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attention-based</a:t>
            </a:r>
            <a:r>
              <a:rPr sz="1350" spc="105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mechanisms.</a:t>
            </a:r>
            <a:r>
              <a:rPr sz="1350" spc="105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The</a:t>
            </a:r>
            <a:r>
              <a:rPr sz="1350" spc="100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TinyBERT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84034" y="5840350"/>
            <a:ext cx="65532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u="sng" spc="-1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Result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75493" y="2609014"/>
            <a:ext cx="3441065" cy="77978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92100" indent="-279400">
              <a:lnSpc>
                <a:spcPct val="100000"/>
              </a:lnSpc>
              <a:spcBef>
                <a:spcPts val="450"/>
              </a:spcBef>
              <a:buFont typeface="Arial MT"/>
              <a:buChar char="•"/>
              <a:tabLst>
                <a:tab pos="292100" algn="l"/>
              </a:tabLst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Model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size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by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1F3863"/>
                </a:solidFill>
                <a:latin typeface="Times New Roman"/>
                <a:cs typeface="Times New Roman"/>
              </a:rPr>
              <a:t>85%</a:t>
            </a:r>
            <a:r>
              <a:rPr sz="1350" b="1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(440MB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→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65MB)</a:t>
            </a:r>
            <a:endParaRPr sz="1350">
              <a:latin typeface="Times New Roman"/>
              <a:cs typeface="Times New Roman"/>
            </a:endParaRPr>
          </a:p>
          <a:p>
            <a:pPr marL="247650" indent="-23495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7650" algn="l"/>
              </a:tabLst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Inference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latency</a:t>
            </a:r>
            <a:r>
              <a:rPr sz="1350" spc="4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by</a:t>
            </a:r>
            <a:r>
              <a:rPr sz="1350" spc="5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1F3863"/>
                </a:solidFill>
                <a:latin typeface="Times New Roman"/>
                <a:cs typeface="Times New Roman"/>
              </a:rPr>
              <a:t>61%</a:t>
            </a:r>
            <a:r>
              <a:rPr sz="1350" b="1" spc="4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(135ms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→</a:t>
            </a:r>
            <a:r>
              <a:rPr sz="1350" spc="5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52ms)</a:t>
            </a:r>
            <a:endParaRPr sz="135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92100" algn="l"/>
              </a:tabLst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Energy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consumption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by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1F3863"/>
                </a:solidFill>
                <a:latin typeface="Times New Roman"/>
                <a:cs typeface="Times New Roman"/>
              </a:rPr>
              <a:t>84%</a:t>
            </a:r>
            <a:r>
              <a:rPr sz="1350" b="1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(12.5J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→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4.8J)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175493" y="3404385"/>
            <a:ext cx="4208145" cy="4451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Throughput</a:t>
            </a:r>
            <a:r>
              <a:rPr sz="1350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increases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by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1F3863"/>
                </a:solidFill>
                <a:latin typeface="Times New Roman"/>
                <a:cs typeface="Times New Roman"/>
              </a:rPr>
              <a:t>147%</a:t>
            </a:r>
            <a:r>
              <a:rPr sz="1350" b="1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(85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→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210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emails/sec)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with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balanced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errors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(FPR: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4.1%,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FNR:</a:t>
            </a:r>
            <a:r>
              <a:rPr sz="1350" spc="5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4.6%).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193729" y="7165964"/>
            <a:ext cx="4450715" cy="6629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6835" algn="ctr">
              <a:lnSpc>
                <a:spcPct val="100000"/>
              </a:lnSpc>
              <a:spcBef>
                <a:spcPts val="120"/>
              </a:spcBef>
            </a:pPr>
            <a:r>
              <a:rPr sz="1900" b="1" u="sng" spc="-1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References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[1]</a:t>
            </a:r>
            <a:r>
              <a:rPr sz="1350" spc="1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X.</a:t>
            </a:r>
            <a:r>
              <a:rPr sz="1350" spc="1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Jiao,</a:t>
            </a:r>
            <a:r>
              <a:rPr sz="1350" spc="1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Y.</a:t>
            </a:r>
            <a:r>
              <a:rPr sz="1350" spc="1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Yin,</a:t>
            </a:r>
            <a:r>
              <a:rPr sz="1350" spc="1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L.</a:t>
            </a:r>
            <a:r>
              <a:rPr sz="1350" spc="1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Shang,</a:t>
            </a:r>
            <a:r>
              <a:rPr sz="1350" spc="1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X.</a:t>
            </a:r>
            <a:r>
              <a:rPr sz="1350" spc="1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Jiang,</a:t>
            </a:r>
            <a:r>
              <a:rPr sz="1350" spc="1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X.</a:t>
            </a:r>
            <a:r>
              <a:rPr sz="1350" spc="1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Chen,</a:t>
            </a:r>
            <a:r>
              <a:rPr sz="1350" spc="1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sz="1350" spc="1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Q.</a:t>
            </a:r>
            <a:r>
              <a:rPr sz="1350" spc="1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Liu,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193729" y="7802768"/>
            <a:ext cx="4449445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12520" algn="l"/>
                <a:tab pos="1998345" algn="l"/>
                <a:tab pos="2661285" algn="l"/>
                <a:tab pos="3093720" algn="l"/>
                <a:tab pos="3807460" algn="l"/>
              </a:tabLst>
            </a:pP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"TinyBERT: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Distilling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BERT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25" dirty="0">
                <a:solidFill>
                  <a:srgbClr val="1F3863"/>
                </a:solidFill>
                <a:latin typeface="Times New Roman"/>
                <a:cs typeface="Times New Roman"/>
              </a:rPr>
              <a:t>for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natural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language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193729" y="8012186"/>
            <a:ext cx="4449445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12545" algn="l"/>
                <a:tab pos="1647825" algn="l"/>
                <a:tab pos="2454910" algn="l"/>
                <a:tab pos="2799715" algn="l"/>
                <a:tab pos="3211195" algn="l"/>
                <a:tab pos="4232275" algn="l"/>
              </a:tabLst>
            </a:pP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understanding,"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25" dirty="0">
                <a:solidFill>
                  <a:srgbClr val="1F3863"/>
                </a:solidFill>
                <a:latin typeface="Times New Roman"/>
                <a:cs typeface="Times New Roman"/>
              </a:rPr>
              <a:t>in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Findings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25" dirty="0">
                <a:solidFill>
                  <a:srgbClr val="1F3863"/>
                </a:solidFill>
                <a:latin typeface="Times New Roman"/>
                <a:cs typeface="Times New Roman"/>
              </a:rPr>
              <a:t>of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25" dirty="0">
                <a:solidFill>
                  <a:srgbClr val="1F3863"/>
                </a:solidFill>
                <a:latin typeface="Times New Roman"/>
                <a:cs typeface="Times New Roman"/>
              </a:rPr>
              <a:t>the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Association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	</a:t>
            </a:r>
            <a:r>
              <a:rPr sz="1350" spc="-25" dirty="0">
                <a:solidFill>
                  <a:srgbClr val="1F3863"/>
                </a:solidFill>
                <a:latin typeface="Times New Roman"/>
                <a:cs typeface="Times New Roman"/>
              </a:rPr>
              <a:t>for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193729" y="8180139"/>
            <a:ext cx="4451350" cy="249682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50"/>
              </a:spcBef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Computational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Linguistics: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EMNLP,</a:t>
            </a:r>
            <a:r>
              <a:rPr sz="1350" spc="4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2020,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pp.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4163-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4174.</a:t>
            </a:r>
            <a:endParaRPr sz="1350">
              <a:latin typeface="Times New Roman"/>
              <a:cs typeface="Times New Roman"/>
            </a:endParaRPr>
          </a:p>
          <a:p>
            <a:pPr marL="12700" marR="5080" indent="276225" algn="just">
              <a:lnSpc>
                <a:spcPct val="101800"/>
              </a:lnSpc>
              <a:spcBef>
                <a:spcPts val="330"/>
              </a:spcBef>
              <a:buAutoNum type="arabicPlain" startAt="2"/>
              <a:tabLst>
                <a:tab pos="288925" algn="l"/>
              </a:tabLst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J.</a:t>
            </a:r>
            <a:r>
              <a:rPr sz="1350" spc="2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Gou,</a:t>
            </a:r>
            <a:r>
              <a:rPr sz="1350" spc="2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B.</a:t>
            </a:r>
            <a:r>
              <a:rPr sz="1350" spc="2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Yu,</a:t>
            </a:r>
            <a:r>
              <a:rPr sz="1350" spc="229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S.</a:t>
            </a:r>
            <a:r>
              <a:rPr sz="1350" spc="2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J.</a:t>
            </a:r>
            <a:r>
              <a:rPr sz="1350" spc="2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Maybank,</a:t>
            </a:r>
            <a:r>
              <a:rPr sz="1350" spc="229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sz="1350" spc="229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D.</a:t>
            </a:r>
            <a:r>
              <a:rPr sz="1350" spc="2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Tao,</a:t>
            </a:r>
            <a:r>
              <a:rPr sz="1350" spc="2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"Knowledge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distillation:</a:t>
            </a:r>
            <a:r>
              <a:rPr sz="1350" spc="125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</a:t>
            </a:r>
            <a:r>
              <a:rPr sz="1350" spc="95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survey,"</a:t>
            </a:r>
            <a:r>
              <a:rPr sz="1350" spc="130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International</a:t>
            </a:r>
            <a:r>
              <a:rPr sz="1350" spc="125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Journal</a:t>
            </a:r>
            <a:r>
              <a:rPr sz="1350" spc="130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of</a:t>
            </a:r>
            <a:r>
              <a:rPr sz="1350" spc="130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Computer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Vision, vol.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129, pp.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1789-1819,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 2021.</a:t>
            </a:r>
            <a:endParaRPr sz="1350">
              <a:latin typeface="Times New Roman"/>
              <a:cs typeface="Times New Roman"/>
            </a:endParaRPr>
          </a:p>
          <a:p>
            <a:pPr marL="12700" marR="5715" indent="266700" algn="just">
              <a:lnSpc>
                <a:spcPct val="101800"/>
              </a:lnSpc>
              <a:spcBef>
                <a:spcPts val="330"/>
              </a:spcBef>
              <a:buAutoNum type="arabicPlain" startAt="2"/>
              <a:tabLst>
                <a:tab pos="279400" algn="l"/>
              </a:tabLst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Y.</a:t>
            </a:r>
            <a:r>
              <a:rPr sz="1350" spc="16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Zeng</a:t>
            </a:r>
            <a:r>
              <a:rPr sz="1350" spc="1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et</a:t>
            </a:r>
            <a:r>
              <a:rPr sz="1350" spc="16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al.,</a:t>
            </a:r>
            <a:r>
              <a:rPr sz="1350" spc="16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"Phishing</a:t>
            </a:r>
            <a:r>
              <a:rPr sz="1350" spc="1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URL</a:t>
            </a:r>
            <a:r>
              <a:rPr sz="1350" spc="114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detection</a:t>
            </a:r>
            <a:r>
              <a:rPr sz="1350" spc="16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using</a:t>
            </a:r>
            <a:r>
              <a:rPr sz="1350" spc="1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BERT</a:t>
            </a:r>
            <a:r>
              <a:rPr sz="1350" spc="15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1F3863"/>
                </a:solidFill>
                <a:latin typeface="Times New Roman"/>
                <a:cs typeface="Times New Roman"/>
              </a:rPr>
              <a:t>and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adversarial</a:t>
            </a:r>
            <a:r>
              <a:rPr sz="1350" spc="14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training,"</a:t>
            </a:r>
            <a:r>
              <a:rPr sz="1350" spc="15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IEEE</a:t>
            </a:r>
            <a:r>
              <a:rPr sz="1350" spc="15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Access,</a:t>
            </a:r>
            <a:r>
              <a:rPr sz="1350" spc="1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vol.</a:t>
            </a:r>
            <a:r>
              <a:rPr sz="1350" spc="15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10,</a:t>
            </a:r>
            <a:r>
              <a:rPr sz="1350" spc="15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pp.</a:t>
            </a:r>
            <a:r>
              <a:rPr sz="1350" spc="14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32145-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32156, 2022.</a:t>
            </a:r>
            <a:endParaRPr sz="1350">
              <a:latin typeface="Times New Roman"/>
              <a:cs typeface="Times New Roman"/>
            </a:endParaRPr>
          </a:p>
          <a:p>
            <a:pPr marL="12700" marR="5080" indent="254000" algn="just">
              <a:lnSpc>
                <a:spcPct val="101800"/>
              </a:lnSpc>
              <a:spcBef>
                <a:spcPts val="330"/>
              </a:spcBef>
              <a:buAutoNum type="arabicPlain" startAt="2"/>
              <a:tabLst>
                <a:tab pos="266700" algn="l"/>
              </a:tabLst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S.</a:t>
            </a:r>
            <a:r>
              <a:rPr sz="1350" spc="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I.</a:t>
            </a:r>
            <a:r>
              <a:rPr sz="1350" spc="7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Mirzadeh,</a:t>
            </a:r>
            <a:r>
              <a:rPr sz="1350" spc="8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M.</a:t>
            </a:r>
            <a:r>
              <a:rPr sz="1350" spc="7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Farajtabar,</a:t>
            </a:r>
            <a:r>
              <a:rPr sz="1350" spc="7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A.</a:t>
            </a:r>
            <a:r>
              <a:rPr sz="1350" spc="8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Li,</a:t>
            </a:r>
            <a:r>
              <a:rPr sz="1350" spc="7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sz="1350" spc="7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H.</a:t>
            </a:r>
            <a:r>
              <a:rPr sz="1350" spc="8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Ghasemzadeh,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"Improved</a:t>
            </a:r>
            <a:r>
              <a:rPr sz="1350" spc="48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knowledge</a:t>
            </a:r>
            <a:r>
              <a:rPr sz="1350" spc="48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distillation</a:t>
            </a:r>
            <a:r>
              <a:rPr sz="1350" spc="484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via</a:t>
            </a:r>
            <a:r>
              <a:rPr sz="1350" spc="484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teacher</a:t>
            </a:r>
            <a:r>
              <a:rPr sz="1350" spc="80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assistant,"</a:t>
            </a:r>
            <a:r>
              <a:rPr sz="1350" spc="80" dirty="0">
                <a:solidFill>
                  <a:srgbClr val="1F3863"/>
                </a:solidFill>
                <a:latin typeface="Times New Roman"/>
                <a:cs typeface="Times New Roman"/>
              </a:rPr>
              <a:t>  </a:t>
            </a:r>
            <a:r>
              <a:rPr sz="1350" spc="-25" dirty="0">
                <a:solidFill>
                  <a:srgbClr val="1F3863"/>
                </a:solidFill>
                <a:latin typeface="Times New Roman"/>
                <a:cs typeface="Times New Roman"/>
              </a:rPr>
              <a:t>in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Proceedings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of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the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AAAI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Conference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on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Artificial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Intelligence,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vol.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34,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no.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04,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pp.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5191-5198,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2020.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271825" y="3996158"/>
            <a:ext cx="4182745" cy="145288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73025" algn="ctr">
              <a:lnSpc>
                <a:spcPct val="100000"/>
              </a:lnSpc>
              <a:spcBef>
                <a:spcPts val="330"/>
              </a:spcBef>
            </a:pPr>
            <a:r>
              <a:rPr sz="1900" b="1" u="sng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Conclusion</a:t>
            </a:r>
            <a:r>
              <a:rPr sz="1900" b="1" u="sng" spc="-1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 </a:t>
            </a:r>
            <a:r>
              <a:rPr sz="1900" b="1" u="sng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&amp;</a:t>
            </a:r>
            <a:r>
              <a:rPr sz="1900" b="1" u="sng" spc="5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 </a:t>
            </a:r>
            <a:r>
              <a:rPr sz="1900" b="1" u="sng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Future</a:t>
            </a:r>
            <a:r>
              <a:rPr sz="1900" b="1" u="sng" spc="5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 </a:t>
            </a:r>
            <a:r>
              <a:rPr sz="1900" b="1" u="sng" spc="-2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Work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01800"/>
              </a:lnSpc>
              <a:spcBef>
                <a:spcPts val="150"/>
              </a:spcBef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Our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approach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achieves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95.7%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detection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accuracy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while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reducing model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size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by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85%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inference latency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by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61%,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establishing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</a:t>
            </a:r>
            <a:r>
              <a:rPr sz="1350" spc="5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practical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benchmark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for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resource-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constrained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security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applications.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350" b="1" dirty="0">
                <a:solidFill>
                  <a:srgbClr val="1F3863"/>
                </a:solidFill>
                <a:latin typeface="Times New Roman"/>
                <a:cs typeface="Times New Roman"/>
              </a:rPr>
              <a:t>Future</a:t>
            </a:r>
            <a:r>
              <a:rPr sz="1350" b="1" spc="-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1F3863"/>
                </a:solidFill>
                <a:latin typeface="Times New Roman"/>
                <a:cs typeface="Times New Roman"/>
              </a:rPr>
              <a:t>Work: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271825" y="5465056"/>
            <a:ext cx="442023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8285" marR="244475" indent="-236220">
              <a:lnSpc>
                <a:spcPct val="101800"/>
              </a:lnSpc>
              <a:spcBef>
                <a:spcPts val="95"/>
              </a:spcBef>
              <a:buChar char="•"/>
              <a:tabLst>
                <a:tab pos="248285" algn="l"/>
                <a:tab pos="292100" algn="l"/>
              </a:tabLst>
            </a:pPr>
            <a:r>
              <a:rPr sz="1350" dirty="0">
                <a:solidFill>
                  <a:srgbClr val="1F3863"/>
                </a:solidFill>
                <a:latin typeface="Arial MT"/>
                <a:cs typeface="Arial MT"/>
              </a:rPr>
              <a:t>	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Longitudinal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studies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in</a:t>
            </a:r>
            <a:r>
              <a:rPr sz="1350" spc="5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production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environments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across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multiple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organizations</a:t>
            </a:r>
            <a:endParaRPr sz="135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92100" algn="l"/>
              </a:tabLst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Enhanced</a:t>
            </a:r>
            <a:r>
              <a:rPr sz="1350" spc="6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detection</a:t>
            </a:r>
            <a:r>
              <a:rPr sz="1350" spc="6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of</a:t>
            </a:r>
            <a:r>
              <a:rPr sz="1350" spc="7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adversarial</a:t>
            </a:r>
            <a:r>
              <a:rPr sz="1350" spc="5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phishing</a:t>
            </a:r>
            <a:r>
              <a:rPr sz="1350" spc="5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techniques</a:t>
            </a:r>
            <a:endParaRPr sz="1350">
              <a:latin typeface="Times New Roman"/>
              <a:cs typeface="Times New Roman"/>
            </a:endParaRPr>
          </a:p>
          <a:p>
            <a:pPr marL="248285">
              <a:lnSpc>
                <a:spcPct val="100000"/>
              </a:lnSpc>
              <a:spcBef>
                <a:spcPts val="30"/>
              </a:spcBef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using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generative</a:t>
            </a:r>
            <a:r>
              <a:rPr sz="1350" spc="-5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1F3863"/>
                </a:solidFill>
                <a:latin typeface="Times New Roman"/>
                <a:cs typeface="Times New Roman"/>
              </a:rPr>
              <a:t>AI</a:t>
            </a:r>
            <a:endParaRPr sz="1350">
              <a:latin typeface="Times New Roman"/>
              <a:cs typeface="Times New Roman"/>
            </a:endParaRPr>
          </a:p>
          <a:p>
            <a:pPr marL="248285" marR="5080" indent="-236220">
              <a:lnSpc>
                <a:spcPct val="101800"/>
              </a:lnSpc>
              <a:spcBef>
                <a:spcPts val="330"/>
              </a:spcBef>
              <a:buChar char="•"/>
              <a:tabLst>
                <a:tab pos="248285" algn="l"/>
                <a:tab pos="292100" algn="l"/>
              </a:tabLst>
            </a:pPr>
            <a:r>
              <a:rPr sz="1350" dirty="0">
                <a:solidFill>
                  <a:srgbClr val="1F3863"/>
                </a:solidFill>
                <a:latin typeface="Arial MT"/>
                <a:cs typeface="Arial MT"/>
              </a:rPr>
              <a:t>	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Integration of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user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behavior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analytics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email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interaction patterns.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175493" y="1760927"/>
            <a:ext cx="4383405" cy="87376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62230" algn="ctr">
              <a:lnSpc>
                <a:spcPct val="100000"/>
              </a:lnSpc>
              <a:spcBef>
                <a:spcPts val="740"/>
              </a:spcBef>
            </a:pPr>
            <a:r>
              <a:rPr sz="1900" b="1" u="sng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Result</a:t>
            </a:r>
            <a:r>
              <a:rPr sz="1900" b="1" u="sng" spc="-25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 </a:t>
            </a:r>
            <a:r>
              <a:rPr sz="1900" b="1" u="sng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(If</a:t>
            </a:r>
            <a:r>
              <a:rPr sz="1900" b="1" u="sng" spc="-3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 </a:t>
            </a:r>
            <a:r>
              <a:rPr sz="1900" b="1" u="sng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extra</a:t>
            </a:r>
            <a:r>
              <a:rPr sz="1900" b="1" u="sng" spc="-5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 </a:t>
            </a:r>
            <a:r>
              <a:rPr sz="1900" b="1" u="sng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space</a:t>
            </a:r>
            <a:r>
              <a:rPr sz="1900" b="1" u="sng" spc="-15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 </a:t>
            </a:r>
            <a:r>
              <a:rPr sz="1900" b="1" u="sng" spc="-1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needed)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01800"/>
              </a:lnSpc>
              <a:spcBef>
                <a:spcPts val="450"/>
              </a:spcBef>
            </a:pPr>
            <a:r>
              <a:rPr sz="1350" b="1" dirty="0">
                <a:solidFill>
                  <a:srgbClr val="1F3863"/>
                </a:solidFill>
                <a:latin typeface="Times New Roman"/>
                <a:cs typeface="Times New Roman"/>
              </a:rPr>
              <a:t>Our</a:t>
            </a:r>
            <a:r>
              <a:rPr sz="1350" b="1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1F3863"/>
                </a:solidFill>
                <a:latin typeface="Times New Roman"/>
                <a:cs typeface="Times New Roman"/>
              </a:rPr>
              <a:t>distilled</a:t>
            </a:r>
            <a:r>
              <a:rPr sz="1350" b="1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1F3863"/>
                </a:solidFill>
                <a:latin typeface="Times New Roman"/>
                <a:cs typeface="Times New Roman"/>
              </a:rPr>
              <a:t>TinyBERT framework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achieves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enterprise-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ready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phishing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detection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with</a:t>
            </a:r>
            <a:r>
              <a:rPr sz="1350" spc="4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95.7%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accuracy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while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reducing: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9019311" y="156491"/>
            <a:ext cx="2058670" cy="443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Paper</a:t>
            </a:r>
            <a:r>
              <a:rPr spc="-140" dirty="0"/>
              <a:t> </a:t>
            </a:r>
            <a:r>
              <a:rPr spc="-10" dirty="0"/>
              <a:t>ID:2527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184528" y="594436"/>
            <a:ext cx="13738860" cy="7721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105910">
              <a:lnSpc>
                <a:spcPts val="2925"/>
              </a:lnSpc>
              <a:spcBef>
                <a:spcPts val="120"/>
              </a:spcBef>
            </a:pPr>
            <a:r>
              <a:rPr sz="2450" b="1" dirty="0">
                <a:solidFill>
                  <a:srgbClr val="1F3863"/>
                </a:solidFill>
                <a:latin typeface="Calibri"/>
                <a:cs typeface="Calibri"/>
              </a:rPr>
              <a:t>Deploying</a:t>
            </a:r>
            <a:r>
              <a:rPr sz="2450" b="1" spc="2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1F3863"/>
                </a:solidFill>
                <a:latin typeface="Calibri"/>
                <a:cs typeface="Calibri"/>
              </a:rPr>
              <a:t>Distilled</a:t>
            </a:r>
            <a:r>
              <a:rPr sz="2450" b="1" spc="2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1F3863"/>
                </a:solidFill>
                <a:latin typeface="Calibri"/>
                <a:cs typeface="Calibri"/>
              </a:rPr>
              <a:t>AI</a:t>
            </a:r>
            <a:r>
              <a:rPr sz="2450" b="1" spc="2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1F3863"/>
                </a:solidFill>
                <a:latin typeface="Calibri"/>
                <a:cs typeface="Calibri"/>
              </a:rPr>
              <a:t>Models</a:t>
            </a:r>
            <a:r>
              <a:rPr sz="2450" b="1" spc="3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1F3863"/>
                </a:solidFill>
                <a:latin typeface="Calibri"/>
                <a:cs typeface="Calibri"/>
              </a:rPr>
              <a:t>for</a:t>
            </a:r>
            <a:r>
              <a:rPr sz="2450" b="1" spc="1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1F3863"/>
                </a:solidFill>
                <a:latin typeface="Calibri"/>
                <a:cs typeface="Calibri"/>
              </a:rPr>
              <a:t>Email</a:t>
            </a:r>
            <a:r>
              <a:rPr sz="2450" b="1" spc="2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1F3863"/>
                </a:solidFill>
                <a:latin typeface="Calibri"/>
                <a:cs typeface="Calibri"/>
              </a:rPr>
              <a:t>Phishing</a:t>
            </a:r>
            <a:r>
              <a:rPr sz="2450" b="1" spc="3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1F3863"/>
                </a:solidFill>
                <a:latin typeface="Calibri"/>
                <a:cs typeface="Calibri"/>
              </a:rPr>
              <a:t>Detection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ts val="2925"/>
              </a:lnSpc>
            </a:pPr>
            <a:r>
              <a:rPr sz="2450" b="1" dirty="0">
                <a:solidFill>
                  <a:srgbClr val="043866"/>
                </a:solidFill>
                <a:latin typeface="Calibri"/>
                <a:cs typeface="Calibri"/>
              </a:rPr>
              <a:t>Nasrat</a:t>
            </a:r>
            <a:r>
              <a:rPr sz="2450" b="1" spc="-30" dirty="0">
                <a:solidFill>
                  <a:srgbClr val="043866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43866"/>
                </a:solidFill>
                <a:latin typeface="Calibri"/>
                <a:cs typeface="Calibri"/>
              </a:rPr>
              <a:t>Jahan,</a:t>
            </a:r>
            <a:r>
              <a:rPr sz="2450" b="1" spc="-15" dirty="0">
                <a:solidFill>
                  <a:srgbClr val="043866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43866"/>
                </a:solidFill>
                <a:latin typeface="Calibri"/>
                <a:cs typeface="Calibri"/>
              </a:rPr>
              <a:t>Md.</a:t>
            </a:r>
            <a:r>
              <a:rPr sz="2450" b="1" spc="-20" dirty="0">
                <a:solidFill>
                  <a:srgbClr val="043866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43866"/>
                </a:solidFill>
                <a:latin typeface="Calibri"/>
                <a:cs typeface="Calibri"/>
              </a:rPr>
              <a:t>Rasheduzzaman</a:t>
            </a:r>
            <a:r>
              <a:rPr sz="2450" b="1" spc="-15" dirty="0">
                <a:solidFill>
                  <a:srgbClr val="043866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43866"/>
                </a:solidFill>
                <a:latin typeface="Calibri"/>
                <a:cs typeface="Calibri"/>
              </a:rPr>
              <a:t>Imran,</a:t>
            </a:r>
            <a:r>
              <a:rPr sz="2450" b="1" spc="-30" dirty="0">
                <a:solidFill>
                  <a:srgbClr val="043866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43866"/>
                </a:solidFill>
                <a:latin typeface="Calibri"/>
                <a:cs typeface="Calibri"/>
              </a:rPr>
              <a:t>Md.</a:t>
            </a:r>
            <a:r>
              <a:rPr sz="2450" b="1" spc="-15" dirty="0">
                <a:solidFill>
                  <a:srgbClr val="043866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43866"/>
                </a:solidFill>
                <a:latin typeface="Calibri"/>
                <a:cs typeface="Calibri"/>
              </a:rPr>
              <a:t>Murad</a:t>
            </a:r>
            <a:r>
              <a:rPr sz="2450" b="1" spc="-20" dirty="0">
                <a:solidFill>
                  <a:srgbClr val="043866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43866"/>
                </a:solidFill>
                <a:latin typeface="Calibri"/>
                <a:cs typeface="Calibri"/>
              </a:rPr>
              <a:t>Jahan</a:t>
            </a:r>
            <a:r>
              <a:rPr sz="1350" b="1" dirty="0">
                <a:solidFill>
                  <a:srgbClr val="043866"/>
                </a:solidFill>
                <a:latin typeface="Calibri"/>
                <a:cs typeface="Calibri"/>
              </a:rPr>
              <a:t>,</a:t>
            </a:r>
            <a:r>
              <a:rPr sz="1350" b="1" spc="285" dirty="0">
                <a:solidFill>
                  <a:srgbClr val="043866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43866"/>
                </a:solidFill>
                <a:latin typeface="Calibri"/>
                <a:cs typeface="Calibri"/>
              </a:rPr>
              <a:t>Muntasir</a:t>
            </a:r>
            <a:r>
              <a:rPr sz="2450" b="1" spc="-10" dirty="0">
                <a:solidFill>
                  <a:srgbClr val="043866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43866"/>
                </a:solidFill>
                <a:latin typeface="Calibri"/>
                <a:cs typeface="Calibri"/>
              </a:rPr>
              <a:t>Hasan</a:t>
            </a:r>
            <a:r>
              <a:rPr sz="2450" b="1" spc="-20" dirty="0">
                <a:solidFill>
                  <a:srgbClr val="043866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43866"/>
                </a:solidFill>
                <a:latin typeface="Calibri"/>
                <a:cs typeface="Calibri"/>
              </a:rPr>
              <a:t>Porag,</a:t>
            </a:r>
            <a:r>
              <a:rPr sz="2450" b="1" spc="-25" dirty="0">
                <a:solidFill>
                  <a:srgbClr val="043866"/>
                </a:solidFill>
                <a:latin typeface="Calibri"/>
                <a:cs typeface="Calibri"/>
              </a:rPr>
              <a:t> </a:t>
            </a:r>
            <a:r>
              <a:rPr sz="2450" b="1" spc="-50" dirty="0">
                <a:solidFill>
                  <a:srgbClr val="043866"/>
                </a:solidFill>
                <a:latin typeface="Calibri"/>
                <a:cs typeface="Calibri"/>
              </a:rPr>
              <a:t>T.</a:t>
            </a:r>
            <a:r>
              <a:rPr sz="2450" b="1" spc="-25" dirty="0">
                <a:solidFill>
                  <a:srgbClr val="043866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43866"/>
                </a:solidFill>
                <a:latin typeface="Calibri"/>
                <a:cs typeface="Calibri"/>
              </a:rPr>
              <a:t>M.</a:t>
            </a:r>
            <a:r>
              <a:rPr sz="2450" b="1" spc="-30" dirty="0">
                <a:solidFill>
                  <a:srgbClr val="043866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43866"/>
                </a:solidFill>
                <a:latin typeface="Calibri"/>
                <a:cs typeface="Calibri"/>
              </a:rPr>
              <a:t>Shahriar</a:t>
            </a:r>
            <a:r>
              <a:rPr sz="2450" b="1" spc="-10" dirty="0">
                <a:solidFill>
                  <a:srgbClr val="043866"/>
                </a:solidFill>
                <a:latin typeface="Calibri"/>
                <a:cs typeface="Calibri"/>
              </a:rPr>
              <a:t> Sazzad</a:t>
            </a:r>
            <a:endParaRPr sz="2450">
              <a:latin typeface="Calibri"/>
              <a:cs typeface="Calibri"/>
            </a:endParaRPr>
          </a:p>
        </p:txBody>
      </p:sp>
      <p:pic>
        <p:nvPicPr>
          <p:cNvPr id="25" name="object 25" descr="ps-bdc-log.-0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707933" y="373045"/>
            <a:ext cx="1979068" cy="88011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977" y="43716"/>
            <a:ext cx="1528137" cy="1094207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18399" y="11006208"/>
            <a:ext cx="5843270" cy="273685"/>
          </a:xfrm>
          <a:prstGeom prst="rect">
            <a:avLst/>
          </a:prstGeom>
          <a:solidFill>
            <a:srgbClr val="E3EEFC"/>
          </a:solidFill>
        </p:spPr>
        <p:txBody>
          <a:bodyPr vert="horz" wrap="square" lIns="0" tIns="8953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705"/>
              </a:spcBef>
            </a:pPr>
            <a:r>
              <a:rPr sz="1000" b="1" dirty="0">
                <a:solidFill>
                  <a:srgbClr val="1F3863"/>
                </a:solidFill>
                <a:latin typeface="Times New Roman"/>
                <a:cs typeface="Times New Roman"/>
              </a:rPr>
              <a:t>2026</a:t>
            </a:r>
            <a:r>
              <a:rPr sz="1000" b="1" spc="7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1F3863"/>
                </a:solidFill>
                <a:latin typeface="Times New Roman"/>
                <a:cs typeface="Times New Roman"/>
              </a:rPr>
              <a:t>IEEE</a:t>
            </a:r>
            <a:r>
              <a:rPr sz="1000" b="1" spc="9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1F3863"/>
                </a:solidFill>
                <a:latin typeface="Times New Roman"/>
                <a:cs typeface="Times New Roman"/>
              </a:rPr>
              <a:t>International</a:t>
            </a:r>
            <a:r>
              <a:rPr sz="1000" b="1" spc="6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1F3863"/>
                </a:solidFill>
                <a:latin typeface="Times New Roman"/>
                <a:cs typeface="Times New Roman"/>
              </a:rPr>
              <a:t>Conference</a:t>
            </a:r>
            <a:r>
              <a:rPr sz="1000" b="1" spc="8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1F3863"/>
                </a:solidFill>
                <a:latin typeface="Times New Roman"/>
                <a:cs typeface="Times New Roman"/>
              </a:rPr>
              <a:t>on</a:t>
            </a:r>
            <a:r>
              <a:rPr sz="1000" b="1" spc="10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1F3863"/>
                </a:solidFill>
                <a:latin typeface="Times New Roman"/>
                <a:cs typeface="Times New Roman"/>
              </a:rPr>
              <a:t>Quantum</a:t>
            </a:r>
            <a:r>
              <a:rPr sz="1000" b="1" spc="8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1F3863"/>
                </a:solidFill>
                <a:latin typeface="Times New Roman"/>
                <a:cs typeface="Times New Roman"/>
              </a:rPr>
              <a:t>Photonics,</a:t>
            </a:r>
            <a:r>
              <a:rPr sz="1000" b="1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1F3863"/>
                </a:solidFill>
                <a:latin typeface="Times New Roman"/>
                <a:cs typeface="Times New Roman"/>
              </a:rPr>
              <a:t>Artificial</a:t>
            </a:r>
            <a:r>
              <a:rPr sz="1000" b="1" spc="6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1F3863"/>
                </a:solidFill>
                <a:latin typeface="Times New Roman"/>
                <a:cs typeface="Times New Roman"/>
              </a:rPr>
              <a:t>Intelligence,</a:t>
            </a:r>
            <a:r>
              <a:rPr sz="1000" b="1" spc="7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sz="1000" b="1" spc="9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000" b="1" spc="-10" dirty="0">
                <a:solidFill>
                  <a:srgbClr val="1F3863"/>
                </a:solidFill>
                <a:latin typeface="Times New Roman"/>
                <a:cs typeface="Times New Roman"/>
              </a:rPr>
              <a:t>Networking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278198" y="2096184"/>
            <a:ext cx="9295765" cy="8677910"/>
            <a:chOff x="5278198" y="2096184"/>
            <a:chExt cx="9295765" cy="8677910"/>
          </a:xfrm>
        </p:grpSpPr>
        <p:pic>
          <p:nvPicPr>
            <p:cNvPr id="29" name="object 29" descr="A diagram of a process  AI-generated content may be incorrect.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37537" y="2096184"/>
              <a:ext cx="3229133" cy="3721688"/>
            </a:xfrm>
            <a:prstGeom prst="rect">
              <a:avLst/>
            </a:prstGeom>
          </p:spPr>
        </p:pic>
        <p:pic>
          <p:nvPicPr>
            <p:cNvPr id="30" name="object 30" descr="A graph of different colored bars  AI-generated content may be incorrect.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66301" y="6054353"/>
              <a:ext cx="4007064" cy="252946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78198" y="6144490"/>
              <a:ext cx="4777254" cy="237401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71082" y="8518405"/>
              <a:ext cx="5124712" cy="2255428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01211" y="8034057"/>
            <a:ext cx="4424680" cy="245427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9845" algn="ctr">
              <a:lnSpc>
                <a:spcPct val="100000"/>
              </a:lnSpc>
              <a:spcBef>
                <a:spcPts val="1270"/>
              </a:spcBef>
            </a:pPr>
            <a:r>
              <a:rPr sz="1900" b="1" u="sng" spc="-1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Method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01800"/>
              </a:lnSpc>
              <a:spcBef>
                <a:spcPts val="825"/>
              </a:spcBef>
            </a:pP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Our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stacked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classifier</a:t>
            </a:r>
            <a:r>
              <a:rPr sz="1350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fuses</a:t>
            </a:r>
            <a:r>
              <a:rPr sz="1350" spc="-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TinyBERT</a:t>
            </a:r>
            <a:r>
              <a:rPr sz="1350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embeddings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with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URL,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header,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keyword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features</a:t>
            </a:r>
            <a:r>
              <a:rPr sz="1350" spc="-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via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attention-based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fusion,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followed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by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LightGBM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ensemble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with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confidence</a:t>
            </a:r>
            <a:r>
              <a:rPr sz="1350" spc="50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calibration.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The</a:t>
            </a:r>
            <a:r>
              <a:rPr sz="1350" spc="4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distillation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process</a:t>
            </a:r>
            <a:r>
              <a:rPr sz="1350" spc="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uses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attention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transfer,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response-based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distillation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(T=2.5),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progressive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compression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through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intermediate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models,</a:t>
            </a:r>
            <a:r>
              <a:rPr sz="1350" spc="4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sz="1350" spc="4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task-specific</a:t>
            </a:r>
            <a:r>
              <a:rPr sz="1350" spc="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adaptation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1F3863"/>
                </a:solidFill>
                <a:latin typeface="Times New Roman"/>
                <a:cs typeface="Times New Roman"/>
              </a:rPr>
              <a:t>for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URL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sender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scoring.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The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framework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is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deployed</a:t>
            </a:r>
            <a:r>
              <a:rPr sz="1350" spc="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as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50" dirty="0">
                <a:solidFill>
                  <a:srgbClr val="1F3863"/>
                </a:solidFill>
                <a:latin typeface="Times New Roman"/>
                <a:cs typeface="Times New Roman"/>
              </a:rPr>
              <a:t>a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containerized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microservice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using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FastAPI,</a:t>
            </a:r>
            <a:r>
              <a:rPr sz="1350" spc="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Docker,</a:t>
            </a:r>
            <a:r>
              <a:rPr sz="1350" spc="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and</a:t>
            </a:r>
            <a:r>
              <a:rPr sz="1350" spc="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1F3863"/>
                </a:solidFill>
                <a:latin typeface="Times New Roman"/>
                <a:cs typeface="Times New Roman"/>
              </a:rPr>
              <a:t>ONNX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Runtime</a:t>
            </a:r>
            <a:r>
              <a:rPr sz="1350" spc="5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with</a:t>
            </a:r>
            <a:r>
              <a:rPr sz="1350" spc="4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Kubernetes</a:t>
            </a:r>
            <a:r>
              <a:rPr sz="1350" spc="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1F3863"/>
                </a:solidFill>
                <a:latin typeface="Times New Roman"/>
                <a:cs typeface="Times New Roman"/>
              </a:rPr>
              <a:t>auto-</a:t>
            </a:r>
            <a:r>
              <a:rPr sz="1350" spc="-10" dirty="0">
                <a:solidFill>
                  <a:srgbClr val="1F3863"/>
                </a:solidFill>
                <a:latin typeface="Times New Roman"/>
                <a:cs typeface="Times New Roman"/>
              </a:rPr>
              <a:t>scaling.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EBEB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744</Words>
  <Application>Microsoft Office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MT</vt:lpstr>
      <vt:lpstr>Calibri</vt:lpstr>
      <vt:lpstr>Times New Roman</vt:lpstr>
      <vt:lpstr>Office Theme</vt:lpstr>
      <vt:lpstr>Paper ID:2527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CanterburyMedia</dc:creator>
  <cp:lastModifiedBy>Nasrat Jahan</cp:lastModifiedBy>
  <cp:revision>1</cp:revision>
  <dcterms:created xsi:type="dcterms:W3CDTF">2026-04-17T03:50:31Z</dcterms:created>
  <dcterms:modified xsi:type="dcterms:W3CDTF">2026-04-17T04:36:58Z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2026-02-28T00:00:00Z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2026-04-17T00:00:00Z</vt:filetime>
  </property>
  <property fmtid="{D5CDD505-2E9C-101B-9397-08002B2CF9AE}" pid="6" name="Producer">
    <vt:lpwstr>Microsoft® PowerPoint® 2019</vt:lpwstr>
  </property>
</Properties>
</file>